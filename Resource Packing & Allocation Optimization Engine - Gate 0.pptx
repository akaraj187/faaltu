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67" r:id="rId8"/>
    <p:sldId id="259" r:id="rId9"/>
    <p:sldId id="260" r:id="rId10"/>
    <p:sldId id="261" r:id="rId11"/>
    <p:sldId id="262" r:id="rId12"/>
    <p:sldId id="263" r:id="rId13"/>
    <p:sldId id="264"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502920" y="457200"/>
            <a:ext cx="3291840" cy="566928"/>
          </a:xfrm>
          <a:prstGeom prst="rect">
            <a:avLst/>
          </a:prstGeom>
        </p:spPr>
      </p:pic>
      <p:sp>
        <p:nvSpPr>
          <p:cNvPr id="3" name="Text 0"/>
          <p:cNvSpPr txBox="1"/>
          <p:nvPr/>
        </p:nvSpPr>
        <p:spPr>
          <a:xfrm>
            <a:off x="822960" y="2148840"/>
            <a:ext cx="10515600" cy="1554480"/>
          </a:xfrm>
          <a:prstGeom prst="rect">
            <a:avLst/>
          </a:prstGeom>
          <a:noFill/>
        </p:spPr>
        <p:txBody>
          <a:bodyPr wrap="square" lIns="0" tIns="0" rIns="0" bIns="0" rtlCol="0" anchor="ctr"/>
          <a:lstStyle/>
          <a:p>
            <a:pPr marL="0" indent="0" algn="ctr">
              <a:buNone/>
            </a:pPr>
            <a:r>
              <a:rPr lang="en-US" sz="4000" b="1" dirty="0">
                <a:solidFill>
                  <a:srgbClr val="1A1A1A"/>
                </a:solidFill>
                <a:latin typeface="Arial" panose="020B0604020202020204" pitchFamily="34" charset="0"/>
                <a:ea typeface="Arial" panose="020B0604020202020204" pitchFamily="34" charset="-122"/>
                <a:cs typeface="Arial" panose="020B0604020202020204" pitchFamily="34" charset="-120"/>
              </a:rPr>
              <a:t>Resource Packing &amp; Allocation</a:t>
            </a:r>
            <a:endParaRPr lang="en-US" sz="4000" dirty="0"/>
          </a:p>
          <a:p>
            <a:pPr marL="0" indent="0" algn="ctr">
              <a:buNone/>
            </a:pPr>
            <a:r>
              <a:rPr lang="en-US" sz="4000" b="1" dirty="0">
                <a:solidFill>
                  <a:srgbClr val="1A1A1A"/>
                </a:solidFill>
                <a:latin typeface="Arial" panose="020B0604020202020204" pitchFamily="34" charset="0"/>
                <a:ea typeface="Arial" panose="020B0604020202020204" pitchFamily="34" charset="-122"/>
                <a:cs typeface="Arial" panose="020B0604020202020204" pitchFamily="34" charset="-120"/>
              </a:rPr>
              <a:t>Optimization Engine</a:t>
            </a:r>
            <a:endParaRPr lang="en-US" sz="4000" dirty="0"/>
          </a:p>
        </p:txBody>
      </p:sp>
      <p:sp>
        <p:nvSpPr>
          <p:cNvPr id="4" name="Text 1"/>
          <p:cNvSpPr txBox="1"/>
          <p:nvPr/>
        </p:nvSpPr>
        <p:spPr>
          <a:xfrm>
            <a:off x="822960" y="3611880"/>
            <a:ext cx="10515600" cy="457200"/>
          </a:xfrm>
          <a:prstGeom prst="rect">
            <a:avLst/>
          </a:prstGeom>
          <a:noFill/>
        </p:spPr>
        <p:txBody>
          <a:bodyPr wrap="square" lIns="0" tIns="0" rIns="0" bIns="0" rtlCol="0" anchor="ctr"/>
          <a:lstStyle/>
          <a:p>
            <a:pPr marL="0" indent="0" algn="ctr">
              <a:buNone/>
            </a:pPr>
            <a:r>
              <a:rPr lang="en-US" sz="1800" i="1" dirty="0">
                <a:solidFill>
                  <a:srgbClr val="1C7293"/>
                </a:solidFill>
                <a:latin typeface="Arial" panose="020B0604020202020204" pitchFamily="34" charset="0"/>
                <a:ea typeface="Arial" panose="020B0604020202020204" pitchFamily="34" charset="-122"/>
                <a:cs typeface="Arial" panose="020B0604020202020204" pitchFamily="34" charset="-120"/>
              </a:rPr>
              <a:t>Multi-Dimensional Bin-Packing for Cluster Resource Scheduling</a:t>
            </a:r>
            <a:endParaRPr lang="en-US" sz="1800" dirty="0"/>
          </a:p>
        </p:txBody>
      </p:sp>
      <p:sp>
        <p:nvSpPr>
          <p:cNvPr id="5" name="Text 2"/>
          <p:cNvSpPr txBox="1"/>
          <p:nvPr/>
        </p:nvSpPr>
        <p:spPr>
          <a:xfrm>
            <a:off x="822960" y="4160520"/>
            <a:ext cx="10515600" cy="384048"/>
          </a:xfrm>
          <a:prstGeom prst="rect">
            <a:avLst/>
          </a:prstGeom>
          <a:noFill/>
        </p:spPr>
        <p:txBody>
          <a:bodyPr wrap="square" lIns="0" tIns="0" rIns="0" bIns="0" rtlCol="0" anchor="ctr"/>
          <a:lstStyle/>
          <a:p>
            <a:pPr marL="0" indent="0" algn="ctr">
              <a:buNone/>
            </a:pPr>
            <a:r>
              <a:rPr lang="en-US" sz="1500" dirty="0">
                <a:solidFill>
                  <a:srgbClr val="5B6670"/>
                </a:solidFill>
                <a:latin typeface="Arial" panose="020B0604020202020204" pitchFamily="34" charset="0"/>
                <a:ea typeface="Arial" panose="020B0604020202020204" pitchFamily="34" charset="-122"/>
                <a:cs typeface="Arial" panose="020B0604020202020204" pitchFamily="34" charset="-120"/>
              </a:rPr>
              <a:t>Gate 0  |  Problem Definition &amp; Need Identification</a:t>
            </a:r>
            <a:endParaRPr lang="en-US" sz="1500" dirty="0"/>
          </a:p>
        </p:txBody>
      </p:sp>
      <p:sp>
        <p:nvSpPr>
          <p:cNvPr id="6" name="Text 3"/>
          <p:cNvSpPr txBox="1"/>
          <p:nvPr/>
        </p:nvSpPr>
        <p:spPr>
          <a:xfrm>
            <a:off x="822960" y="4846320"/>
            <a:ext cx="10515600" cy="320040"/>
          </a:xfrm>
          <a:prstGeom prst="rect">
            <a:avLst/>
          </a:prstGeom>
          <a:noFill/>
        </p:spPr>
        <p:txBody>
          <a:bodyPr wrap="square" lIns="0" tIns="0" rIns="0" bIns="0" rtlCol="0" anchor="ctr"/>
          <a:lstStyle/>
          <a:p>
            <a:pPr marL="0" indent="0" algn="ctr">
              <a:buNone/>
            </a:pPr>
            <a:r>
              <a:rPr lang="en-US" sz="1300" dirty="0">
                <a:solidFill>
                  <a:srgbClr val="1A1A1A"/>
                </a:solidFill>
                <a:latin typeface="Arial" panose="020B0604020202020204" pitchFamily="34" charset="0"/>
                <a:ea typeface="Arial" panose="020B0604020202020204" pitchFamily="34" charset="-122"/>
                <a:cs typeface="Arial" panose="020B0604020202020204" pitchFamily="34" charset="-120"/>
              </a:rPr>
              <a:t>Team Number: 4        Guide: Mr. Maheshgowda Patil</a:t>
            </a:r>
            <a:endParaRPr lang="en-US" sz="1300" dirty="0"/>
          </a:p>
        </p:txBody>
      </p:sp>
      <p:sp>
        <p:nvSpPr>
          <p:cNvPr id="7" name="Text 4"/>
          <p:cNvSpPr txBox="1"/>
          <p:nvPr/>
        </p:nvSpPr>
        <p:spPr>
          <a:xfrm>
            <a:off x="822960" y="5193792"/>
            <a:ext cx="10515600" cy="320040"/>
          </a:xfrm>
          <a:prstGeom prst="rect">
            <a:avLst/>
          </a:prstGeom>
          <a:noFill/>
        </p:spPr>
        <p:txBody>
          <a:bodyPr wrap="square" lIns="0" tIns="0" rIns="0" bIns="0" rtlCol="0" anchor="ctr"/>
          <a:lstStyle/>
          <a:p>
            <a:pPr marL="0" indent="0" algn="ctr">
              <a:buNone/>
            </a:pPr>
            <a:r>
              <a:rPr lang="en-US" sz="1300" dirty="0">
                <a:solidFill>
                  <a:srgbClr val="5B6670"/>
                </a:solidFill>
                <a:latin typeface="Arial" panose="020B0604020202020204" pitchFamily="34" charset="0"/>
                <a:ea typeface="Arial" panose="020B0604020202020204" pitchFamily="34" charset="-122"/>
                <a:cs typeface="Arial" panose="020B0604020202020204" pitchFamily="34" charset="-120"/>
              </a:rPr>
              <a:t>Sumanth Patil   |   Neil Mascarenhas   |   Dasari Joshua   |   Akash Dani</a:t>
            </a:r>
            <a:endParaRPr lang="en-US" sz="1300" dirty="0"/>
          </a:p>
        </p:txBody>
      </p:sp>
      <p:sp>
        <p:nvSpPr>
          <p:cNvPr id="8" name="Text 5"/>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1. </a:t>
            </a:r>
            <a:r>
              <a:rPr lang="en-US" sz="2800" b="1" dirty="0">
                <a:solidFill>
                  <a:srgbClr val="1A1A1A"/>
                </a:solidFill>
                <a:latin typeface="Arial" panose="020B0604020202020204" pitchFamily="34" charset="0"/>
                <a:ea typeface="Arial" panose="020B0604020202020204" pitchFamily="34" charset="-122"/>
                <a:cs typeface="Arial" panose="020B0604020202020204" pitchFamily="34" charset="-120"/>
              </a:rPr>
              <a:t>The Problem</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914400"/>
            <a:ext cx="11247120" cy="5394960"/>
          </a:xfrm>
          <a:prstGeom prst="rect">
            <a:avLst/>
          </a:prstGeom>
          <a:noFill/>
        </p:spPr>
        <p:txBody>
          <a:bodyPr wrap="square" lIns="0" tIns="0" rIns="0" bIns="0" rtlCol="0" anchor="t"/>
          <a:lstStyle/>
          <a:p>
            <a:pPr indent="0">
              <a:lnSpc>
                <a:spcPct val="115000"/>
              </a:lnSpc>
              <a:spcAft>
                <a:spcPts val="1400"/>
              </a:spcAft>
              <a:buSzPct val="100000"/>
              <a:buNone/>
            </a:pPr>
            <a:r>
              <a:rPr lang="en-US" altLang="en-GB" sz="2000" dirty="0"/>
              <a:t>In today’s cloud networks and large-scale computing systems, assigning tasks to servers is often handled using basic, inflexible rules. Currently, administrators set fixed limits for how much computing power (CPU) and memory an application is allowed to use. The system then simply places the application on the first server that appears to have enough space, without looking at the overall balance of the entire network.</a:t>
            </a:r>
            <a:endParaRPr lang="en-US" altLang="en-GB" sz="2000" dirty="0"/>
          </a:p>
          <a:p>
            <a:pPr indent="0">
              <a:lnSpc>
                <a:spcPct val="115000"/>
              </a:lnSpc>
              <a:spcAft>
                <a:spcPts val="1400"/>
              </a:spcAft>
              <a:buSzPct val="100000"/>
              <a:buNone/>
            </a:pPr>
            <a:r>
              <a:rPr lang="en-US" altLang="en-GB" sz="2000" dirty="0"/>
              <a:t>This approach falls short because real-world applications have unpredictable, changing needs. Assigning tasks so rigidly creates a severe imbalance in how resources are used. For example, a server might use up 100% of its memory while 70% of its processing power sits completely idle. Because the memory is full, that server cannot accept any new tasks, meaning its leftover processing power is wasted.</a:t>
            </a:r>
            <a:endParaRPr lang="en-US" altLang="en-GB" sz="2000" dirty="0"/>
          </a:p>
          <a:p>
            <a:pPr indent="0">
              <a:lnSpc>
                <a:spcPct val="115000"/>
              </a:lnSpc>
              <a:spcAft>
                <a:spcPts val="1400"/>
              </a:spcAft>
              <a:buSzPct val="100000"/>
              <a:buNone/>
            </a:pPr>
            <a:r>
              <a:rPr lang="en-US" altLang="en-GB" sz="2000" dirty="0"/>
              <a:t>To prevent applications from crashing during sudden traffic spikes, organizations are forced to overcompensate by running far more servers than they actually need. Because current systems cannot intelligently "pack" tasks together based on their real-time requirements, average data centers end up wasting between 20% to 40% of their total capacity. This results in massive financial waste, inefficient hardware use, and constant manual stress for IT teams who have to constantly monitor and fix the system.</a:t>
            </a:r>
            <a:endParaRPr lang="en-US" altLang="en-GB" sz="2000"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2. </a:t>
            </a:r>
            <a:r>
              <a:rPr lang="en-US" sz="2800" b="1" dirty="0">
                <a:solidFill>
                  <a:srgbClr val="1A1A1A"/>
                </a:solidFill>
                <a:latin typeface="Arial" panose="020B0604020202020204" pitchFamily="34" charset="0"/>
                <a:ea typeface="Arial" panose="020B0604020202020204" pitchFamily="34" charset="-122"/>
                <a:cs typeface="Arial" panose="020B0604020202020204" pitchFamily="34" charset="-120"/>
              </a:rPr>
              <a:t>Stakeholders</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1051560"/>
            <a:ext cx="11247120" cy="5394960"/>
          </a:xfrm>
          <a:prstGeom prst="rect">
            <a:avLst/>
          </a:prstGeom>
          <a:noFill/>
        </p:spPr>
        <p:txBody>
          <a:bodyPr wrap="square" lIns="0" tIns="0" rIns="0" bIns="0" rtlCol="0" anchor="t"/>
          <a:lstStyle/>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Primary — System/DevOps Administrators: need automated scaling &amp; intelligent placement; currently face manual intervention during workload spikes and high operational overhead.</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Primary — Application Developers: need consistent environments without hardware constraints; deployments currently fail to schedule due to localized resource exhaustion (OOM).</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Secondary — Cloud FinOps Teams: need maximum hardware utilization and predictable billing; currently see a high share of spend wasted on idle but allocated capacity.</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Secondary — End-Users: need uninterrupted, low-latency service; currently experience dropped requests or lag when node limits are reached.</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Key insight: the system must prioritize System Administrators’ operational needs by automating placement decisions — this simultaneously reduces FinOps waste and improves developer reliability.</a:t>
            </a:r>
            <a:endParaRPr lang="en-US"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3. STAKEHOLDER ANALYSIS</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1051560"/>
            <a:ext cx="11247120" cy="5394960"/>
          </a:xfrm>
          <a:prstGeom prst="rect">
            <a:avLst/>
          </a:prstGeom>
          <a:noFill/>
        </p:spPr>
        <p:txBody>
          <a:bodyPr wrap="square" lIns="0" tIns="0" rIns="0" bIns="0" rtlCol="0" anchor="t"/>
          <a:lstStyle/>
          <a:p>
            <a:pPr marL="342900" indent="-342900">
              <a:lnSpc>
                <a:spcPct val="115000"/>
              </a:lnSpc>
              <a:spcAft>
                <a:spcPts val="1400"/>
              </a:spcAft>
              <a:buSzPct val="100000"/>
              <a:buChar char="•"/>
            </a:pPr>
            <a:endParaRPr lang="en-US" sz="1600"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graphicFrame>
        <p:nvGraphicFramePr>
          <p:cNvPr id="8" name="Table 7"/>
          <p:cNvGraphicFramePr/>
          <p:nvPr>
            <p:custDataLst>
              <p:tags r:id="rId2"/>
            </p:custDataLst>
          </p:nvPr>
        </p:nvGraphicFramePr>
        <p:xfrm>
          <a:off x="365760" y="1002030"/>
          <a:ext cx="10919460" cy="5219700"/>
        </p:xfrm>
        <a:graphic>
          <a:graphicData uri="http://schemas.openxmlformats.org/drawingml/2006/table">
            <a:tbl>
              <a:tblPr/>
              <a:tblGrid>
                <a:gridCol w="1983105"/>
                <a:gridCol w="2450465"/>
                <a:gridCol w="2449195"/>
                <a:gridCol w="2449830"/>
                <a:gridCol w="1586865"/>
              </a:tblGrid>
              <a:tr h="397510">
                <a:tc>
                  <a:txBody>
                    <a:bodyPr/>
                    <a:p>
                      <a:pPr algn="ctr">
                        <a:lnSpc>
                          <a:spcPct val="107000"/>
                        </a:lnSpc>
                        <a:spcBef>
                          <a:spcPct val="0"/>
                        </a:spcBef>
                        <a:spcAft>
                          <a:spcPct val="0"/>
                        </a:spcAft>
                      </a:pPr>
                      <a:r>
                        <a:rPr lang="en-US" altLang="zh-CN" sz="1400" b="1">
                          <a:solidFill>
                            <a:srgbClr val="FFFFFF"/>
                          </a:solidFill>
                          <a:latin typeface="Bookman Old Style"/>
                          <a:ea typeface="Bookman Old Style"/>
                        </a:rPr>
                        <a:t>Stakeholder</a:t>
                      </a:r>
                      <a:endParaRPr lang="en-US" altLang="zh-CN" sz="1400" b="1">
                        <a:solidFill>
                          <a:srgbClr val="FFFFFF"/>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2D5B8F"/>
                    </a:solidFill>
                  </a:tcPr>
                </a:tc>
                <a:tc>
                  <a:txBody>
                    <a:bodyPr/>
                    <a:p>
                      <a:pPr algn="ctr">
                        <a:lnSpc>
                          <a:spcPct val="107000"/>
                        </a:lnSpc>
                        <a:spcBef>
                          <a:spcPct val="0"/>
                        </a:spcBef>
                        <a:spcAft>
                          <a:spcPct val="0"/>
                        </a:spcAft>
                      </a:pPr>
                      <a:r>
                        <a:rPr lang="en-US" altLang="zh-CN" sz="1400" b="1">
                          <a:solidFill>
                            <a:srgbClr val="FFFFFF"/>
                          </a:solidFill>
                          <a:latin typeface="Bookman Old Style"/>
                          <a:ea typeface="Bookman Old Style"/>
                        </a:rPr>
                        <a:t>Role / Description</a:t>
                      </a:r>
                      <a:endParaRPr lang="en-US" altLang="zh-CN" sz="1400" b="1">
                        <a:solidFill>
                          <a:srgbClr val="FFFFFF"/>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2D5B8F"/>
                    </a:solidFill>
                  </a:tcPr>
                </a:tc>
                <a:tc>
                  <a:txBody>
                    <a:bodyPr/>
                    <a:p>
                      <a:pPr algn="ctr">
                        <a:lnSpc>
                          <a:spcPct val="107000"/>
                        </a:lnSpc>
                        <a:spcBef>
                          <a:spcPct val="0"/>
                        </a:spcBef>
                        <a:spcAft>
                          <a:spcPct val="0"/>
                        </a:spcAft>
                      </a:pPr>
                      <a:r>
                        <a:rPr lang="en-US" altLang="zh-CN" sz="1400" b="1">
                          <a:solidFill>
                            <a:srgbClr val="FFFFFF"/>
                          </a:solidFill>
                          <a:latin typeface="Bookman Old Style"/>
                          <a:ea typeface="Bookman Old Style"/>
                        </a:rPr>
                        <a:t>Needs &amp; Expectations</a:t>
                      </a:r>
                      <a:endParaRPr lang="en-US" altLang="zh-CN" sz="1400" b="1">
                        <a:solidFill>
                          <a:srgbClr val="FFFFFF"/>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2D5B8F"/>
                    </a:solidFill>
                  </a:tcPr>
                </a:tc>
                <a:tc>
                  <a:txBody>
                    <a:bodyPr/>
                    <a:p>
                      <a:pPr algn="ctr">
                        <a:lnSpc>
                          <a:spcPct val="107000"/>
                        </a:lnSpc>
                        <a:spcBef>
                          <a:spcPct val="0"/>
                        </a:spcBef>
                        <a:spcAft>
                          <a:spcPct val="0"/>
                        </a:spcAft>
                      </a:pPr>
                      <a:r>
                        <a:rPr lang="en-US" altLang="zh-CN" sz="1400" b="1">
                          <a:solidFill>
                            <a:srgbClr val="FFFFFF"/>
                          </a:solidFill>
                          <a:latin typeface="Bookman Old Style"/>
                          <a:ea typeface="Bookman Old Style"/>
                        </a:rPr>
                        <a:t>Current Pain Points</a:t>
                      </a:r>
                      <a:endParaRPr lang="en-US" altLang="zh-CN" sz="1400" b="1">
                        <a:solidFill>
                          <a:srgbClr val="FFFFFF"/>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2D5B8F"/>
                    </a:solidFill>
                  </a:tcPr>
                </a:tc>
                <a:tc>
                  <a:txBody>
                    <a:bodyPr/>
                    <a:p>
                      <a:pPr algn="ctr">
                        <a:lnSpc>
                          <a:spcPct val="107000"/>
                        </a:lnSpc>
                        <a:spcBef>
                          <a:spcPct val="0"/>
                        </a:spcBef>
                        <a:spcAft>
                          <a:spcPct val="0"/>
                        </a:spcAft>
                      </a:pPr>
                      <a:r>
                        <a:rPr lang="en-US" altLang="zh-CN" sz="1400" b="1">
                          <a:solidFill>
                            <a:srgbClr val="FFFFFF"/>
                          </a:solidFill>
                          <a:latin typeface="Bookman Old Style"/>
                          <a:ea typeface="Bookman Old Style"/>
                        </a:rPr>
                        <a:t>Influence (H/M/L)</a:t>
                      </a:r>
                      <a:endParaRPr lang="en-US" altLang="zh-CN" sz="1400" b="1">
                        <a:solidFill>
                          <a:srgbClr val="FFFFFF"/>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2D5B8F"/>
                    </a:solidFill>
                  </a:tcPr>
                </a:tc>
              </a:tr>
              <a:tr h="1448435">
                <a:tc>
                  <a:txBody>
                    <a:bodyPr/>
                    <a:p>
                      <a:pPr>
                        <a:lnSpc>
                          <a:spcPct val="107000"/>
                        </a:lnSpc>
                        <a:spcBef>
                          <a:spcPct val="0"/>
                        </a:spcBef>
                        <a:spcAft>
                          <a:spcPct val="0"/>
                        </a:spcAft>
                      </a:pPr>
                      <a:r>
                        <a:rPr lang="en-US" altLang="zh-CN" sz="1400">
                          <a:solidFill>
                            <a:srgbClr val="27313D"/>
                          </a:solidFill>
                          <a:latin typeface="Bookman Old Style"/>
                          <a:ea typeface="Bookman Old Style"/>
                        </a:rPr>
                        <a:t>System/DevOps Administrators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Manage infrastructure and monitor cluster health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Automated scaling and intelligent placement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Manual intervention required during sudden workload spikes; high operational overhead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High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r>
              <a:tr h="1059815">
                <a:tc>
                  <a:txBody>
                    <a:bodyPr/>
                    <a:p>
                      <a:pPr>
                        <a:lnSpc>
                          <a:spcPct val="107000"/>
                        </a:lnSpc>
                        <a:spcBef>
                          <a:spcPct val="0"/>
                        </a:spcBef>
                        <a:spcAft>
                          <a:spcPct val="0"/>
                        </a:spcAft>
                      </a:pPr>
                      <a:r>
                        <a:rPr lang="en-US" altLang="zh-CN" sz="1400">
                          <a:solidFill>
                            <a:srgbClr val="27313D"/>
                          </a:solidFill>
                          <a:latin typeface="Bookman Old Style"/>
                          <a:ea typeface="Bookman Old Style"/>
                        </a:rPr>
                        <a:t>Cloud FinOps Teams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Oversee infrastructure budget and resource ROI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Maximum hardware utilization and predictable billing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High percentage of wasted spend on idle but allocated server capacity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High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r>
              <a:tr h="1254760">
                <a:tc>
                  <a:txBody>
                    <a:bodyPr/>
                    <a:p>
                      <a:pPr>
                        <a:lnSpc>
                          <a:spcPct val="107000"/>
                        </a:lnSpc>
                        <a:spcBef>
                          <a:spcPct val="0"/>
                        </a:spcBef>
                        <a:spcAft>
                          <a:spcPct val="0"/>
                        </a:spcAft>
                      </a:pPr>
                      <a:r>
                        <a:rPr lang="en-US" altLang="zh-CN" sz="1400">
                          <a:solidFill>
                            <a:srgbClr val="27313D"/>
                          </a:solidFill>
                          <a:latin typeface="Bookman Old Style"/>
                          <a:ea typeface="Bookman Old Style"/>
                        </a:rPr>
                        <a:t>Application Developers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Deploy microservices and containerized applications.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Consistent environments without hardware constraints.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Applications fail to schedule due to localized resource exhaustion (e.g., OOM errors).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Medium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noFill/>
                  </a:tcPr>
                </a:tc>
              </a:tr>
              <a:tr h="1059180">
                <a:tc>
                  <a:txBody>
                    <a:bodyPr/>
                    <a:p>
                      <a:pPr>
                        <a:lnSpc>
                          <a:spcPct val="107000"/>
                        </a:lnSpc>
                        <a:spcBef>
                          <a:spcPct val="0"/>
                        </a:spcBef>
                        <a:spcAft>
                          <a:spcPct val="0"/>
                        </a:spcAft>
                      </a:pPr>
                      <a:r>
                        <a:rPr lang="en-US" altLang="zh-CN" sz="1400">
                          <a:solidFill>
                            <a:srgbClr val="27313D"/>
                          </a:solidFill>
                          <a:latin typeface="Bookman Old Style"/>
                          <a:ea typeface="Bookman Old Style"/>
                        </a:rPr>
                        <a:t>End-Users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Consume the deployed digital services.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Uninterrupted, low-latency application performance.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Dropped requests or lag when physical node limits are reached. </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c>
                  <a:txBody>
                    <a:bodyPr/>
                    <a:p>
                      <a:pPr>
                        <a:lnSpc>
                          <a:spcPct val="107000"/>
                        </a:lnSpc>
                        <a:spcBef>
                          <a:spcPct val="0"/>
                        </a:spcBef>
                        <a:spcAft>
                          <a:spcPct val="0"/>
                        </a:spcAft>
                      </a:pPr>
                      <a:r>
                        <a:rPr lang="en-US" altLang="zh-CN" sz="1400">
                          <a:solidFill>
                            <a:srgbClr val="27313D"/>
                          </a:solidFill>
                          <a:latin typeface="Bookman Old Style"/>
                          <a:ea typeface="Bookman Old Style"/>
                        </a:rPr>
                        <a:t>Low</a:t>
                      </a:r>
                      <a:endParaRPr lang="en-US" altLang="zh-CN" sz="1400">
                        <a:solidFill>
                          <a:srgbClr val="27313D"/>
                        </a:solidFill>
                        <a:latin typeface="Bookman Old Style"/>
                        <a:ea typeface="Bookman Old Style"/>
                      </a:endParaRPr>
                    </a:p>
                  </a:txBody>
                  <a:tcPr marL="41275" marR="41275" marT="34925" marB="34925" anchor="ctr" anchorCtr="0">
                    <a:lnL w="6350" cap="flat" cmpd="sng">
                      <a:solidFill>
                        <a:srgbClr val="BFBFBF"/>
                      </a:solidFill>
                      <a:prstDash val="solid"/>
                      <a:headEnd type="none" w="med" len="med"/>
                      <a:tailEnd type="none" w="med" len="med"/>
                    </a:lnL>
                    <a:lnR w="6350" cap="flat" cmpd="sng">
                      <a:solidFill>
                        <a:srgbClr val="BFBFBF"/>
                      </a:solidFill>
                      <a:prstDash val="solid"/>
                      <a:headEnd type="none" w="med" len="med"/>
                      <a:tailEnd type="none" w="med" len="med"/>
                    </a:lnR>
                    <a:lnT w="6350" cap="flat" cmpd="sng">
                      <a:solidFill>
                        <a:srgbClr val="BFBFBF"/>
                      </a:solidFill>
                      <a:prstDash val="solid"/>
                      <a:headEnd type="none" w="med" len="med"/>
                      <a:tailEnd type="none" w="med" len="med"/>
                    </a:lnT>
                    <a:lnB w="6350" cap="flat" cmpd="sng">
                      <a:solidFill>
                        <a:srgbClr val="BFBFBF"/>
                      </a:solidFill>
                      <a:prstDash val="solid"/>
                      <a:headEnd type="none" w="med" len="med"/>
                      <a:tailEnd type="none" w="med" len="med"/>
                    </a:lnB>
                    <a:solidFill>
                      <a:srgbClr val="F8FAF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3. </a:t>
            </a:r>
            <a:r>
              <a:rPr lang="en-US" sz="2800" b="1" dirty="0">
                <a:solidFill>
                  <a:srgbClr val="1A1A1A"/>
                </a:solidFill>
                <a:latin typeface="Arial" panose="020B0604020202020204" pitchFamily="34" charset="0"/>
                <a:ea typeface="Arial" panose="020B0604020202020204" pitchFamily="34" charset="-122"/>
                <a:cs typeface="Arial" panose="020B0604020202020204" pitchFamily="34" charset="-120"/>
              </a:rPr>
              <a:t>How It Works Today: AS-IS</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1051560"/>
            <a:ext cx="11247120" cy="5394960"/>
          </a:xfrm>
          <a:prstGeom prst="rect">
            <a:avLst/>
          </a:prstGeom>
          <a:noFill/>
        </p:spPr>
        <p:txBody>
          <a:bodyPr wrap="square" lIns="0" tIns="0" rIns="0" bIns="0" rtlCol="0" anchor="t"/>
          <a:lstStyle/>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1. Developer submits an application manifest with estimated CPU/RAM limits via the CI/CD pipeline — limits are often guessed, causing over-requesting.</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2. The default scheduler assigns the workload to the first node with “enough” space — a naive, linear check that causes fragmentation.</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3. The node executes the workload alongside existing apps; CPU/RAM usage fluctuates independently, causing contention.</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4. The administrator receives a high-utilization alert only after limits are breached — reactive, so degradation has already occurred.</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5. The administrator manually migrates workloads or scales the cluster — slow, stressful, and error-prone.</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Core inefficiency: rigid, single-dimensional provisioning — the workflow never analyzes the whole cluster to pair complementary workloads (e.g. CPU-heavy with memory-heavy) on the same node.</a:t>
            </a:r>
            <a:endParaRPr lang="en-US"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4. </a:t>
            </a:r>
            <a:r>
              <a:rPr lang="en-US" sz="2800" b="1" dirty="0">
                <a:solidFill>
                  <a:srgbClr val="1A1A1A"/>
                </a:solidFill>
                <a:latin typeface="Arial" panose="020B0604020202020204" pitchFamily="34" charset="0"/>
                <a:ea typeface="Arial" panose="020B0604020202020204" pitchFamily="34" charset="-122"/>
                <a:cs typeface="Arial" panose="020B0604020202020204" pitchFamily="34" charset="-120"/>
              </a:rPr>
              <a:t>Evidence the Problem Is Real</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1061720"/>
            <a:ext cx="11247120" cy="5394960"/>
          </a:xfrm>
          <a:prstGeom prst="rect">
            <a:avLst/>
          </a:prstGeom>
          <a:noFill/>
        </p:spPr>
        <p:txBody>
          <a:bodyPr wrap="square" lIns="0" tIns="0" rIns="0" bIns="0" rtlCol="0" anchor="t"/>
          <a:lstStyle/>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29% of cloud infrastructure spend is wasted, largely driven by over-provisioned and poorly optimized compute resources (Flexera, 2026 State of the Cloud Report).</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Over 65% of Kubernetes workloads utilize less than half of their requested CPU and memory (Datadog Container Report).</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Internal server environments typically average 15–20% hardware utilization due to inefficient workload bin-packing.</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Together, these figures show the fragmentation problem is measured, industry-wide, and financially significant — not assumed.</a:t>
            </a:r>
            <a:endParaRPr lang="en-US"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5. </a:t>
            </a:r>
            <a:r>
              <a:rPr lang="en-US" sz="2800" b="1" dirty="0">
                <a:solidFill>
                  <a:srgbClr val="1A1A1A"/>
                </a:solidFill>
                <a:latin typeface="Arial" panose="020B0604020202020204" pitchFamily="34" charset="0"/>
                <a:ea typeface="Arial" panose="020B0604020202020204" pitchFamily="34" charset="-122"/>
                <a:cs typeface="Arial" panose="020B0604020202020204" pitchFamily="34" charset="-120"/>
              </a:rPr>
              <a:t>Problem Statement &amp; Objectives</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1051560"/>
            <a:ext cx="11247120" cy="5394960"/>
          </a:xfrm>
          <a:prstGeom prst="rect">
            <a:avLst/>
          </a:prstGeom>
          <a:noFill/>
        </p:spPr>
        <p:txBody>
          <a:bodyPr wrap="square" lIns="0" tIns="0" rIns="0" bIns="0" rtlCol="0" anchor="t"/>
          <a:lstStyle/>
          <a:p>
            <a:pPr indent="0">
              <a:lnSpc>
                <a:spcPct val="115000"/>
              </a:lnSpc>
              <a:spcAft>
                <a:spcPts val="1400"/>
              </a:spcAft>
              <a:buSzPct val="100000"/>
              <a:buNone/>
            </a:pPr>
            <a:r>
              <a:rPr lang="en-US" sz="2000" b="1" dirty="0">
                <a:solidFill>
                  <a:srgbClr val="1A1A1A"/>
                </a:solidFill>
                <a:latin typeface="Arial" panose="020B0604020202020204" pitchFamily="34" charset="0"/>
                <a:ea typeface="Arial" panose="020B0604020202020204" pitchFamily="34" charset="-122"/>
                <a:cs typeface="Arial" panose="020B0604020202020204" pitchFamily="34" charset="-120"/>
              </a:rPr>
              <a:t>Problem statement:</a:t>
            </a: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rPr>
              <a:t> </a:t>
            </a:r>
            <a:endPar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endParaRPr>
          </a:p>
          <a:p>
            <a:pPr indent="0">
              <a:lnSpc>
                <a:spcPct val="115000"/>
              </a:lnSpc>
              <a:spcAft>
                <a:spcPts val="1400"/>
              </a:spcAft>
              <a:buSzPct val="100000"/>
              <a:buNone/>
            </a:pPr>
            <a:r>
              <a:rPr lang="en-US" b="1" dirty="0">
                <a:solidFill>
                  <a:srgbClr val="1A1A1A"/>
                </a:solidFill>
                <a:latin typeface="Arial" panose="020B0604020202020204" pitchFamily="34" charset="0"/>
                <a:ea typeface="Arial" panose="020B0604020202020204" pitchFamily="34" charset="-122"/>
                <a:cs typeface="Arial" panose="020B0604020202020204" pitchFamily="34" charset="-120"/>
              </a:rPr>
              <a:t>-</a:t>
            </a: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a:t>
            </a:r>
            <a:r>
              <a:rPr lang="en-US" b="1" dirty="0">
                <a:solidFill>
                  <a:srgbClr val="1A1A1A"/>
                </a:solidFill>
                <a:latin typeface="Arial" panose="020B0604020202020204" pitchFamily="34" charset="0"/>
                <a:ea typeface="Arial" panose="020B0604020202020204" pitchFamily="34" charset="-122"/>
                <a:cs typeface="Arial" panose="020B0604020202020204" pitchFamily="34" charset="-120"/>
              </a:rPr>
              <a:t>Current Static resource provisioning models in multi-node environments cause severe multi-dimensional resource fragmentation, resulting in an average of 20–30% wasted compute capacity and requiring manual administrative intervention during workload spikes.</a:t>
            </a:r>
            <a:endParaRPr lang="en-US" dirty="0">
              <a:solidFill>
                <a:srgbClr val="1A1A1A"/>
              </a:solidFill>
              <a:latin typeface="Arial" panose="020B0604020202020204" pitchFamily="34" charset="0"/>
              <a:ea typeface="Arial" panose="020B0604020202020204" pitchFamily="34" charset="-122"/>
              <a:cs typeface="Arial" panose="020B0604020202020204" pitchFamily="34" charset="-120"/>
            </a:endParaRPr>
          </a:p>
          <a:p>
            <a:pPr indent="0">
              <a:lnSpc>
                <a:spcPct val="115000"/>
              </a:lnSpc>
              <a:spcAft>
                <a:spcPts val="1400"/>
              </a:spcAft>
              <a:buSzPct val="100000"/>
              <a:buNone/>
            </a:pPr>
            <a:endPar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endParaRPr>
          </a:p>
          <a:p>
            <a:pPr indent="0">
              <a:lnSpc>
                <a:spcPct val="115000"/>
              </a:lnSpc>
              <a:spcAft>
                <a:spcPts val="1400"/>
              </a:spcAft>
              <a:buSzPct val="100000"/>
              <a:buNone/>
            </a:pPr>
            <a:r>
              <a:rPr lang="en-US" sz="2000" b="1" dirty="0"/>
              <a:t>OBJECTIVES:</a:t>
            </a:r>
            <a:endParaRPr lang="en-US" sz="1600"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Build an algorithmic bin-packing engine evaluating joint CPU + RAM (2D) resource requests.</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Simulate a multi-node virtual cluster enforcing capacity limits and contention boundaries.</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Incorporate network-aware placement rules to co-locate communication-heavy workloads.</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Develop a database layer logging node state, allocation history &amp; fragmentation metrics.</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Build a visualization dashboard demonstrating a ≥15% reduction in fragmentation vs. round-robin scheduling.</a:t>
            </a:r>
            <a:endParaRPr lang="en-US"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6. </a:t>
            </a:r>
            <a:r>
              <a:rPr lang="en-US" sz="2800" b="1" dirty="0">
                <a:solidFill>
                  <a:srgbClr val="1A1A1A"/>
                </a:solidFill>
                <a:latin typeface="Arial" panose="020B0604020202020204" pitchFamily="34" charset="0"/>
                <a:ea typeface="Arial" panose="020B0604020202020204" pitchFamily="34" charset="-122"/>
                <a:cs typeface="Arial" panose="020B0604020202020204" pitchFamily="34" charset="-120"/>
              </a:rPr>
              <a:t>Foundational Course Integration</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1051560"/>
            <a:ext cx="11247120" cy="5394960"/>
          </a:xfrm>
          <a:prstGeom prst="rect">
            <a:avLst/>
          </a:prstGeom>
          <a:noFill/>
        </p:spPr>
        <p:txBody>
          <a:bodyPr wrap="square" lIns="0" tIns="0" rIns="0" bIns="0" rtlCol="0" anchor="t"/>
          <a:lstStyle/>
          <a:p>
            <a:pPr marL="342900" indent="-342900">
              <a:lnSpc>
                <a:spcPct val="115000"/>
              </a:lnSpc>
              <a:spcAft>
                <a:spcPts val="1400"/>
              </a:spcAft>
              <a:buSzPct val="100000"/>
              <a:buChar char="•"/>
            </a:pPr>
            <a:r>
              <a:rPr lang="en-US" b="1" dirty="0">
                <a:solidFill>
                  <a:srgbClr val="1A1A1A"/>
                </a:solidFill>
                <a:latin typeface="Arial" panose="020B0604020202020204" pitchFamily="34" charset="0"/>
                <a:ea typeface="Arial" panose="020B0604020202020204" pitchFamily="34" charset="-122"/>
                <a:cs typeface="Arial" panose="020B0604020202020204" pitchFamily="34" charset="-120"/>
              </a:rPr>
              <a:t>Data Structures &amp; Algorithms</a:t>
            </a: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 multi-dimensional bin-packing heuristics, priority queues, and dynamic programming for optimal placement.</a:t>
            </a:r>
            <a:endParaRPr lang="en-US" dirty="0"/>
          </a:p>
          <a:p>
            <a:pPr marL="342900" indent="-342900">
              <a:lnSpc>
                <a:spcPct val="115000"/>
              </a:lnSpc>
              <a:spcAft>
                <a:spcPts val="1400"/>
              </a:spcAft>
              <a:buSzPct val="100000"/>
              <a:buChar char="•"/>
            </a:pPr>
            <a:r>
              <a:rPr lang="en-US" b="1" dirty="0">
                <a:solidFill>
                  <a:srgbClr val="1A1A1A"/>
                </a:solidFill>
                <a:latin typeface="Arial" panose="020B0604020202020204" pitchFamily="34" charset="0"/>
                <a:ea typeface="Arial" panose="020B0604020202020204" pitchFamily="34" charset="-122"/>
                <a:cs typeface="Arial" panose="020B0604020202020204" pitchFamily="34" charset="-120"/>
              </a:rPr>
              <a:t>Operating Systems</a:t>
            </a: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 process scheduling, memory allocation, context-switching overhead, and starvation avoidance.</a:t>
            </a:r>
            <a:endParaRPr lang="en-US" dirty="0"/>
          </a:p>
          <a:p>
            <a:pPr marL="342900" indent="-342900">
              <a:lnSpc>
                <a:spcPct val="115000"/>
              </a:lnSpc>
              <a:spcAft>
                <a:spcPts val="1400"/>
              </a:spcAft>
              <a:buSzPct val="100000"/>
              <a:buChar char="•"/>
            </a:pPr>
            <a:r>
              <a:rPr lang="en-US" b="1" dirty="0">
                <a:solidFill>
                  <a:srgbClr val="1A1A1A"/>
                </a:solidFill>
                <a:latin typeface="Arial" panose="020B0604020202020204" pitchFamily="34" charset="0"/>
                <a:ea typeface="Arial" panose="020B0604020202020204" pitchFamily="34" charset="-122"/>
                <a:cs typeface="Arial" panose="020B0604020202020204" pitchFamily="34" charset="-120"/>
              </a:rPr>
              <a:t>Computer Networks </a:t>
            </a: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latency-aware placement, bandwidth constraints, and inter-process communication (IPC) routing.</a:t>
            </a:r>
            <a:endParaRPr lang="en-US" dirty="0"/>
          </a:p>
          <a:p>
            <a:pPr marL="342900" indent="-342900">
              <a:lnSpc>
                <a:spcPct val="115000"/>
              </a:lnSpc>
              <a:spcAft>
                <a:spcPts val="1400"/>
              </a:spcAft>
              <a:buSzPct val="100000"/>
              <a:buChar char="•"/>
            </a:pPr>
            <a:r>
              <a:rPr lang="en-US" b="1" dirty="0">
                <a:solidFill>
                  <a:srgbClr val="1A1A1A"/>
                </a:solidFill>
                <a:latin typeface="Arial" panose="020B0604020202020204" pitchFamily="34" charset="0"/>
                <a:ea typeface="Arial" panose="020B0604020202020204" pitchFamily="34" charset="-122"/>
                <a:cs typeface="Arial" panose="020B0604020202020204" pitchFamily="34" charset="-120"/>
              </a:rPr>
              <a:t>Database Management Systems</a:t>
            </a: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 relational schema design for node-state tracking, transaction logging, and time-series metrics.</a:t>
            </a:r>
            <a:endParaRPr lang="en-US" dirty="0"/>
          </a:p>
          <a:p>
            <a:pPr marL="342900" indent="-342900">
              <a:lnSpc>
                <a:spcPct val="115000"/>
              </a:lnSpc>
              <a:spcAft>
                <a:spcPts val="1400"/>
              </a:spcAft>
              <a:buSzPct val="100000"/>
              <a:buChar char="•"/>
            </a:pPr>
            <a:r>
              <a:rPr lang="en-US" b="1" dirty="0">
                <a:solidFill>
                  <a:srgbClr val="1A1A1A"/>
                </a:solidFill>
                <a:latin typeface="Arial" panose="020B0604020202020204" pitchFamily="34" charset="0"/>
                <a:ea typeface="Arial" panose="020B0604020202020204" pitchFamily="34" charset="-122"/>
                <a:cs typeface="Arial" panose="020B0604020202020204" pitchFamily="34" charset="-120"/>
              </a:rPr>
              <a:t>Software Engineering</a:t>
            </a: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 system architecture design, API development, and module integration for the optimization engine.</a:t>
            </a:r>
            <a:endParaRPr lang="en-US"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7. </a:t>
            </a:r>
            <a:r>
              <a:rPr lang="en-US" sz="2800" b="1" dirty="0">
                <a:solidFill>
                  <a:srgbClr val="1A1A1A"/>
                </a:solidFill>
                <a:latin typeface="Arial" panose="020B0604020202020204" pitchFamily="34" charset="0"/>
                <a:ea typeface="Arial" panose="020B0604020202020204" pitchFamily="34" charset="-122"/>
                <a:cs typeface="Arial" panose="020B0604020202020204" pitchFamily="34" charset="-120"/>
              </a:rPr>
              <a:t>Scope &amp; Boundaries</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1275080"/>
            <a:ext cx="11247120" cy="5171440"/>
          </a:xfrm>
          <a:prstGeom prst="rect">
            <a:avLst/>
          </a:prstGeom>
          <a:noFill/>
        </p:spPr>
        <p:txBody>
          <a:bodyPr wrap="square" lIns="0" tIns="0" rIns="0" bIns="0" rtlCol="0" anchor="t"/>
          <a:lstStyle/>
          <a:p>
            <a:pPr marL="342900" indent="-342900">
              <a:lnSpc>
                <a:spcPct val="115000"/>
              </a:lnSpc>
              <a:spcAft>
                <a:spcPts val="10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Multi-dimensional bin-packing heuristics (e.g. Best-Fit Decreasing) implemented in Python/C++.</a:t>
            </a:r>
            <a:endParaRPr lang="en-US" dirty="0"/>
          </a:p>
          <a:p>
            <a:pPr marL="342900" indent="-342900">
              <a:lnSpc>
                <a:spcPct val="115000"/>
              </a:lnSpc>
              <a:spcAft>
                <a:spcPts val="10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A Simulated cluster using Minikube and Docker containers to represent nodes and workloads.</a:t>
            </a:r>
            <a:endParaRPr lang="en-US" dirty="0"/>
          </a:p>
          <a:p>
            <a:pPr marL="342900" indent="-342900">
              <a:lnSpc>
                <a:spcPct val="115000"/>
              </a:lnSpc>
              <a:spcAft>
                <a:spcPts val="10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A Backend API linking the packing engine to the cluster-state database.</a:t>
            </a:r>
            <a:endParaRPr lang="en-US" dirty="0"/>
          </a:p>
          <a:p>
            <a:pPr marL="342900" indent="-342900">
              <a:lnSpc>
                <a:spcPct val="115000"/>
              </a:lnSpc>
              <a:spcAft>
                <a:spcPts val="10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A Web dashboard mapping real-time resource allocation and algorithmic efficiency.</a:t>
            </a:r>
            <a:endParaRPr lang="en-US" dirty="0"/>
          </a:p>
          <a:p>
            <a:pPr marL="342900" indent="-342900">
              <a:lnSpc>
                <a:spcPct val="115000"/>
              </a:lnSpc>
              <a:spcAft>
                <a:spcPts val="10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Detection of simulated resource exhaustion and network bandwidth thresholds.</a:t>
            </a:r>
            <a:endParaRPr lang="en-US" dirty="0">
              <a:solidFill>
                <a:srgbClr val="1A1A1A"/>
              </a:solidFill>
              <a:latin typeface="Arial" panose="020B0604020202020204" pitchFamily="34" charset="0"/>
              <a:ea typeface="Arial" panose="020B0604020202020204" pitchFamily="34" charset="-122"/>
              <a:cs typeface="Arial" panose="020B0604020202020204" pitchFamily="34" charset="-120"/>
            </a:endParaRPr>
          </a:p>
          <a:p>
            <a:pPr indent="0">
              <a:lnSpc>
                <a:spcPct val="115000"/>
              </a:lnSpc>
              <a:spcAft>
                <a:spcPts val="1000"/>
              </a:spcAft>
              <a:buSzPct val="100000"/>
              <a:buNone/>
            </a:pPr>
            <a:r>
              <a:rPr lang="en-US" sz="2400" b="1" dirty="0"/>
              <a:t>BOUNDARIES:</a:t>
            </a:r>
            <a:endParaRPr lang="en-US" sz="2400" b="1" dirty="0"/>
          </a:p>
          <a:p>
            <a:pPr marL="342900" indent="-342900">
              <a:lnSpc>
                <a:spcPct val="115000"/>
              </a:lnSpc>
              <a:spcAft>
                <a:spcPts val="10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Production-grade cloud billing/invoicing modules — exceeds the technical scope and timeline of the academic project.</a:t>
            </a:r>
            <a:endParaRPr lang="en-US" dirty="0"/>
          </a:p>
          <a:p>
            <a:pPr marL="342900" indent="-342900">
              <a:lnSpc>
                <a:spcPct val="115000"/>
              </a:lnSpc>
              <a:spcAft>
                <a:spcPts val="10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Physical hardware provisioning and bare-metal configuration — unnecessary for demonstrating the algorithmic optimization problem.</a:t>
            </a:r>
            <a:endParaRPr lang="en-US" dirty="0"/>
          </a:p>
          <a:p>
            <a:pPr marL="342900" indent="-342900">
              <a:lnSpc>
                <a:spcPct val="115000"/>
              </a:lnSpc>
              <a:spcAft>
                <a:spcPts val="10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 Internet-scale distributed/peer-to-peer deployment — beyond the compute limits of a local lab environment.</a:t>
            </a:r>
            <a:endParaRPr lang="en-US" dirty="0"/>
          </a:p>
          <a:p>
            <a:pPr marL="342900" indent="-342900">
              <a:lnSpc>
                <a:spcPct val="115000"/>
              </a:lnSpc>
              <a:spcAft>
                <a:spcPts val="10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Timeline: work is strictly bound to the 15-week academic semester.</a:t>
            </a:r>
            <a:endParaRPr lang="en-US"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
        <p:nvSpPr>
          <p:cNvPr id="9" name="Text Box 8"/>
          <p:cNvSpPr txBox="1"/>
          <p:nvPr/>
        </p:nvSpPr>
        <p:spPr>
          <a:xfrm>
            <a:off x="266700" y="826770"/>
            <a:ext cx="6096000" cy="460375"/>
          </a:xfrm>
          <a:prstGeom prst="rect">
            <a:avLst/>
          </a:prstGeom>
          <a:noFill/>
        </p:spPr>
        <p:txBody>
          <a:bodyPr wrap="square" rtlCol="0">
            <a:spAutoFit/>
          </a:bodyPr>
          <a:p>
            <a:r>
              <a:rPr lang="en-US" altLang="en-GB" sz="2400" b="1">
                <a:sym typeface="+mn-ea"/>
              </a:rPr>
              <a:t>SCOPE:</a:t>
            </a:r>
            <a:endParaRPr lang="en-US" altLang="en-GB" sz="2400" b="1">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8. </a:t>
            </a:r>
            <a:r>
              <a:rPr lang="en-US" sz="2800" b="1" dirty="0">
                <a:solidFill>
                  <a:srgbClr val="1A1A1A"/>
                </a:solidFill>
                <a:latin typeface="Arial" panose="020B0604020202020204" pitchFamily="34" charset="0"/>
                <a:ea typeface="Arial" panose="020B0604020202020204" pitchFamily="34" charset="-122"/>
                <a:cs typeface="Arial" panose="020B0604020202020204" pitchFamily="34" charset="-120"/>
              </a:rPr>
              <a:t>Feasibility, Risks &amp; Success Criteria</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1240155"/>
            <a:ext cx="11247120" cy="5206365"/>
          </a:xfrm>
          <a:prstGeom prst="rect">
            <a:avLst/>
          </a:prstGeom>
          <a:noFill/>
        </p:spPr>
        <p:txBody>
          <a:bodyPr wrap="square" lIns="0" tIns="0" rIns="0" bIns="0" rtlCol="0" anchor="t"/>
          <a:lstStyle/>
          <a:p>
            <a:pPr marL="342900" indent="-342900">
              <a:lnSpc>
                <a:spcPct val="115000"/>
              </a:lnSpc>
              <a:spcAft>
                <a:spcPts val="1000"/>
              </a:spcAft>
              <a:buSzPct val="100000"/>
              <a:buChar char="•"/>
            </a:pP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rPr>
              <a:t> Algorithmic: High. Team has foundational DSA knowledge to adapt Knapsack and Bin-Packing algorithms.</a:t>
            </a:r>
            <a:endParaRPr lang="en-US" sz="1600" dirty="0"/>
          </a:p>
          <a:p>
            <a:pPr marL="342900" indent="-342900">
              <a:lnSpc>
                <a:spcPct val="115000"/>
              </a:lnSpc>
              <a:spcAft>
                <a:spcPts val="1000"/>
              </a:spcAft>
              <a:buSzPct val="100000"/>
              <a:buChar char="•"/>
            </a:pP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rPr>
              <a:t>Infrastructure: High. Container orchestration platforms like Minikube allow robust cluster simulation on local machines.</a:t>
            </a:r>
            <a:endParaRPr lang="en-US" sz="1600" dirty="0"/>
          </a:p>
          <a:p>
            <a:pPr marL="342900" indent="-342900">
              <a:lnSpc>
                <a:spcPct val="115000"/>
              </a:lnSpc>
              <a:spcAft>
                <a:spcPts val="1000"/>
              </a:spcAft>
              <a:buSzPct val="100000"/>
              <a:buChar char="•"/>
            </a:pP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rPr>
              <a:t> Integration: Medium. Connecting the C++/Python engine to the web dashboard requires strict API interface contracts.</a:t>
            </a:r>
            <a:endParaRPr lang="en-US" sz="1600" dirty="0"/>
          </a:p>
          <a:p>
            <a:pPr marL="342900" indent="-342900">
              <a:lnSpc>
                <a:spcPct val="115000"/>
              </a:lnSpc>
              <a:spcAft>
                <a:spcPts val="1000"/>
              </a:spcAft>
              <a:buSzPct val="100000"/>
              <a:buChar char="•"/>
            </a:pPr>
            <a:r>
              <a:rPr lang="en-US" sz="1600" b="1" dirty="0">
                <a:solidFill>
                  <a:srgbClr val="1A1A1A"/>
                </a:solidFill>
                <a:latin typeface="Arial" panose="020B0604020202020204" pitchFamily="34" charset="0"/>
                <a:ea typeface="Arial" panose="020B0604020202020204" pitchFamily="34" charset="-122"/>
                <a:cs typeface="Arial" panose="020B0604020202020204" pitchFamily="34" charset="-120"/>
              </a:rPr>
              <a:t>Overall feasibility: </a:t>
            </a: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rPr>
              <a:t> Scope is tightly bounded and achievable within the 15-week timeframe.</a:t>
            </a:r>
            <a:endParaRPr lang="en-US" sz="1400" dirty="0">
              <a:solidFill>
                <a:srgbClr val="1A1A1A"/>
              </a:solidFill>
              <a:latin typeface="Arial" panose="020B0604020202020204" pitchFamily="34" charset="0"/>
              <a:ea typeface="Arial" panose="020B0604020202020204" pitchFamily="34" charset="-122"/>
              <a:cs typeface="Arial" panose="020B0604020202020204" pitchFamily="34" charset="-120"/>
            </a:endParaRPr>
          </a:p>
          <a:p>
            <a:pPr indent="0">
              <a:lnSpc>
                <a:spcPct val="115000"/>
              </a:lnSpc>
              <a:spcAft>
                <a:spcPts val="1000"/>
              </a:spcAft>
              <a:buSzPct val="100000"/>
              <a:buNone/>
            </a:pPr>
            <a:r>
              <a:rPr lang="en-US" sz="2400" b="1" dirty="0">
                <a:solidFill>
                  <a:srgbClr val="1A1A1A"/>
                </a:solidFill>
                <a:latin typeface="Arial" panose="020B0604020202020204" pitchFamily="34" charset="0"/>
                <a:ea typeface="Arial" panose="020B0604020202020204" pitchFamily="34" charset="-122"/>
                <a:cs typeface="Arial" panose="020B0604020202020204" pitchFamily="34" charset="-120"/>
              </a:rPr>
              <a:t>Risks:</a:t>
            </a:r>
            <a:endParaRPr lang="en-US" sz="2400" b="1" dirty="0"/>
          </a:p>
          <a:p>
            <a:pPr marL="342900" indent="-342900">
              <a:lnSpc>
                <a:spcPct val="115000"/>
              </a:lnSpc>
              <a:spcAft>
                <a:spcPts val="1000"/>
              </a:spcAft>
              <a:buSzPct val="100000"/>
              <a:buChar char="•"/>
            </a:pP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rPr>
              <a:t>Risk R01 (Technical, M/H): algorithm latency during traffic spikes — mitigated by bounding time complexity and using greedy heuristics.</a:t>
            </a:r>
            <a:endParaRPr lang="en-US" sz="1600" dirty="0"/>
          </a:p>
          <a:p>
            <a:pPr marL="342900" indent="-342900">
              <a:lnSpc>
                <a:spcPct val="115000"/>
              </a:lnSpc>
              <a:spcAft>
                <a:spcPts val="1000"/>
              </a:spcAft>
              <a:buSzPct val="100000"/>
              <a:buChar char="•"/>
            </a:pP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rPr>
              <a:t>Risk R02 (Integration, M/H): engine–database state inconsistency — mitigated by transaction locks and relational constraints.</a:t>
            </a:r>
            <a:endParaRPr lang="en-US" sz="1600" dirty="0"/>
          </a:p>
          <a:p>
            <a:pPr marL="342900" indent="-342900">
              <a:lnSpc>
                <a:spcPct val="115000"/>
              </a:lnSpc>
              <a:spcAft>
                <a:spcPts val="1000"/>
              </a:spcAft>
              <a:buSzPct val="100000"/>
              <a:buChar char="•"/>
            </a:pP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rPr>
              <a:t>Risk R03 (Scope, H/M): scope creep into predictive ML forecasting — mitigated by strictly holding to the in-scope list.</a:t>
            </a:r>
            <a:endPar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endParaRPr>
          </a:p>
          <a:p>
            <a:pPr indent="0">
              <a:lnSpc>
                <a:spcPct val="115000"/>
              </a:lnSpc>
              <a:spcAft>
                <a:spcPts val="1000"/>
              </a:spcAft>
              <a:buSzPct val="100000"/>
              <a:buNone/>
            </a:pPr>
            <a:r>
              <a:rPr lang="en-US" sz="2400" b="1" dirty="0">
                <a:solidFill>
                  <a:srgbClr val="1A1A1A"/>
                </a:solidFill>
                <a:latin typeface="Arial" panose="020B0604020202020204" pitchFamily="34" charset="0"/>
                <a:ea typeface="Arial" panose="020B0604020202020204" pitchFamily="34" charset="-122"/>
                <a:cs typeface="Arial" panose="020B0604020202020204" pitchFamily="34" charset="-120"/>
                <a:sym typeface="+mn-ea"/>
              </a:rPr>
              <a:t>Success criteria:</a:t>
            </a: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sym typeface="+mn-ea"/>
              </a:rPr>
              <a:t> </a:t>
            </a:r>
            <a:endPar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sym typeface="+mn-ea"/>
            </a:endParaRPr>
          </a:p>
          <a:p>
            <a:pPr marL="342900" indent="-342900">
              <a:lnSpc>
                <a:spcPct val="115000"/>
              </a:lnSpc>
              <a:spcAft>
                <a:spcPts val="1000"/>
              </a:spcAft>
              <a:buSzPct val="100000"/>
              <a:buChar char="•"/>
            </a:pPr>
            <a:r>
              <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sym typeface="+mn-ea"/>
              </a:rPr>
              <a:t>≥15% fragmentation reduction vs. round-robin; real-time DB logging; working dashboard; 2D bin-packing engine operational.</a:t>
            </a:r>
            <a:endParaRPr lang="en-US" sz="1600" dirty="0"/>
          </a:p>
          <a:p>
            <a:pPr marL="342900" indent="-342900">
              <a:lnSpc>
                <a:spcPct val="115000"/>
              </a:lnSpc>
              <a:spcAft>
                <a:spcPts val="1000"/>
              </a:spcAft>
              <a:buSzPct val="100000"/>
              <a:buChar char="•"/>
            </a:pPr>
            <a:endParaRPr lang="en-US" sz="1600" dirty="0">
              <a:solidFill>
                <a:srgbClr val="1A1A1A"/>
              </a:solidFill>
              <a:latin typeface="Arial" panose="020B0604020202020204" pitchFamily="34" charset="0"/>
              <a:ea typeface="Arial" panose="020B0604020202020204" pitchFamily="34" charset="-122"/>
              <a:cs typeface="Arial" panose="020B0604020202020204" pitchFamily="34" charset="-120"/>
            </a:endParaRPr>
          </a:p>
          <a:p>
            <a:pPr indent="0">
              <a:lnSpc>
                <a:spcPct val="115000"/>
              </a:lnSpc>
              <a:spcAft>
                <a:spcPts val="1000"/>
              </a:spcAft>
              <a:buSzPct val="100000"/>
              <a:buNone/>
            </a:pPr>
            <a:endParaRPr lang="en-US" sz="1400" dirty="0"/>
          </a:p>
          <a:p>
            <a:pPr marL="342900" indent="-342900">
              <a:lnSpc>
                <a:spcPct val="115000"/>
              </a:lnSpc>
              <a:spcAft>
                <a:spcPts val="1000"/>
              </a:spcAft>
              <a:buSzPct val="100000"/>
              <a:buChar char="•"/>
            </a:pPr>
            <a:endParaRPr lang="en-US" sz="1400"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
        <p:nvSpPr>
          <p:cNvPr id="7" name="Text Box 6"/>
          <p:cNvSpPr txBox="1"/>
          <p:nvPr/>
        </p:nvSpPr>
        <p:spPr>
          <a:xfrm>
            <a:off x="365760" y="777240"/>
            <a:ext cx="4064000" cy="460375"/>
          </a:xfrm>
          <a:prstGeom prst="rect">
            <a:avLst/>
          </a:prstGeom>
          <a:noFill/>
        </p:spPr>
        <p:txBody>
          <a:bodyPr wrap="square" rtlCol="0">
            <a:spAutoFit/>
          </a:bodyPr>
          <a:p>
            <a:r>
              <a:rPr lang="en-US" sz="2400" b="1" dirty="0">
                <a:solidFill>
                  <a:srgbClr val="1A1A1A"/>
                </a:solidFill>
                <a:latin typeface="Arial" panose="020B0604020202020204" pitchFamily="34" charset="0"/>
                <a:ea typeface="Arial" panose="020B0604020202020204" pitchFamily="34" charset="-122"/>
                <a:cs typeface="Arial" panose="020B0604020202020204" pitchFamily="34" charset="-120"/>
                <a:sym typeface="+mn-ea"/>
              </a:rPr>
              <a:t>Feasibility: </a:t>
            </a:r>
            <a:endParaRPr lang="en-GB" altLang="en-US" sz="24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jpeg"/>
          <p:cNvPicPr>
            <a:picLocks noChangeAspect="1"/>
          </p:cNvPicPr>
          <p:nvPr/>
        </p:nvPicPr>
        <p:blipFill>
          <a:blip r:embed="rId1"/>
          <a:stretch>
            <a:fillRect/>
          </a:stretch>
        </p:blipFill>
        <p:spPr>
          <a:xfrm>
            <a:off x="8887968" y="128016"/>
            <a:ext cx="3200400" cy="548640"/>
          </a:xfrm>
          <a:prstGeom prst="rect">
            <a:avLst/>
          </a:prstGeom>
        </p:spPr>
      </p:pic>
      <p:sp>
        <p:nvSpPr>
          <p:cNvPr id="3" name="Text 0"/>
          <p:cNvSpPr txBox="1"/>
          <p:nvPr/>
        </p:nvSpPr>
        <p:spPr>
          <a:xfrm>
            <a:off x="365760" y="6547104"/>
            <a:ext cx="7772400" cy="256032"/>
          </a:xfrm>
          <a:prstGeom prst="rect">
            <a:avLst/>
          </a:prstGeom>
          <a:noFill/>
        </p:spPr>
        <p:txBody>
          <a:bodyPr wrap="square" lIns="0" tIns="0" rIns="0" bIns="0" rtlCol="0" anchor="ctr"/>
          <a:lstStyle/>
          <a:p>
            <a:pPr marL="0" indent="0">
              <a:buNone/>
            </a:pPr>
            <a:r>
              <a:rPr lang="en-US" sz="1000" dirty="0">
                <a:solidFill>
                  <a:srgbClr val="5B6670"/>
                </a:solidFill>
                <a:latin typeface="Arial" panose="020B0604020202020204" pitchFamily="34" charset="0"/>
                <a:ea typeface="Arial" panose="020B0604020202020204" pitchFamily="34" charset="-122"/>
                <a:cs typeface="Arial" panose="020B0604020202020204" pitchFamily="34" charset="-120"/>
              </a:rPr>
              <a:t>Department of Computer Science and Engineering</a:t>
            </a:r>
            <a:endParaRPr lang="en-US" sz="1000" dirty="0"/>
          </a:p>
        </p:txBody>
      </p:sp>
      <p:sp>
        <p:nvSpPr>
          <p:cNvPr id="4" name="Text 1"/>
          <p:cNvSpPr txBox="1"/>
          <p:nvPr/>
        </p:nvSpPr>
        <p:spPr>
          <a:xfrm>
            <a:off x="365760" y="146304"/>
            <a:ext cx="9601200" cy="566928"/>
          </a:xfrm>
          <a:prstGeom prst="rect">
            <a:avLst/>
          </a:prstGeom>
          <a:noFill/>
        </p:spPr>
        <p:txBody>
          <a:bodyPr wrap="square" lIns="0" tIns="0" rIns="0" bIns="0" rtlCol="0" anchor="ctr"/>
          <a:lstStyle/>
          <a:p>
            <a:pPr marL="0" indent="0">
              <a:buNone/>
            </a:pPr>
            <a:r>
              <a:rPr lang="en-US" sz="2800" b="1" dirty="0">
                <a:solidFill>
                  <a:srgbClr val="1C7293"/>
                </a:solidFill>
                <a:latin typeface="Arial" panose="020B0604020202020204" pitchFamily="34" charset="0"/>
                <a:ea typeface="Arial" panose="020B0604020202020204" pitchFamily="34" charset="-122"/>
                <a:cs typeface="Arial" panose="020B0604020202020204" pitchFamily="34" charset="-120"/>
              </a:rPr>
              <a:t>9. </a:t>
            </a:r>
            <a:r>
              <a:rPr lang="en-US" sz="2800" b="1" dirty="0">
                <a:solidFill>
                  <a:srgbClr val="1A1A1A"/>
                </a:solidFill>
                <a:latin typeface="Arial" panose="020B0604020202020204" pitchFamily="34" charset="0"/>
                <a:ea typeface="Arial" panose="020B0604020202020204" pitchFamily="34" charset="-122"/>
                <a:cs typeface="Arial" panose="020B0604020202020204" pitchFamily="34" charset="-120"/>
              </a:rPr>
              <a:t>References</a:t>
            </a:r>
            <a:endParaRPr lang="en-US" sz="2800" dirty="0"/>
          </a:p>
        </p:txBody>
      </p:sp>
      <p:sp>
        <p:nvSpPr>
          <p:cNvPr id="5" name="Shape 2"/>
          <p:cNvSpPr/>
          <p:nvPr/>
        </p:nvSpPr>
        <p:spPr>
          <a:xfrm>
            <a:off x="82296" y="777240"/>
            <a:ext cx="12024360" cy="0"/>
          </a:xfrm>
          <a:prstGeom prst="line">
            <a:avLst/>
          </a:prstGeom>
          <a:noFill/>
          <a:ln w="22860">
            <a:solidFill>
              <a:srgbClr val="E4948A"/>
            </a:solidFill>
            <a:prstDash val="solid"/>
          </a:ln>
        </p:spPr>
      </p:sp>
      <p:sp>
        <p:nvSpPr>
          <p:cNvPr id="6" name="Text 3"/>
          <p:cNvSpPr txBox="1"/>
          <p:nvPr/>
        </p:nvSpPr>
        <p:spPr>
          <a:xfrm>
            <a:off x="365760" y="1051560"/>
            <a:ext cx="11247120" cy="5394960"/>
          </a:xfrm>
          <a:prstGeom prst="rect">
            <a:avLst/>
          </a:prstGeom>
          <a:noFill/>
        </p:spPr>
        <p:txBody>
          <a:bodyPr wrap="square" lIns="0" tIns="0" rIns="0" bIns="0" rtlCol="0" anchor="t"/>
          <a:lstStyle/>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Flexera. (2026). State of the Cloud Report. https://share.google/kNuvS44K1gzMEK2vK</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Datadog. Container Report — State of Containers and Serverless. https://www.datadoghq.com/state-of-containers-and-serverless/</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Natural Resources Defense Council (NRDC). Data Center Efficiency Assessments. https://jemtechgroup.com/wp-content/uploads/2016/09/data-center-efficiency-assessment-IP.pdf</a:t>
            </a:r>
            <a:endParaRPr lang="en-US" dirty="0"/>
          </a:p>
          <a:p>
            <a:pPr marL="342900" indent="-342900">
              <a:lnSpc>
                <a:spcPct val="115000"/>
              </a:lnSpc>
              <a:spcAft>
                <a:spcPts val="1400"/>
              </a:spcAft>
              <a:buSzPct val="100000"/>
              <a:buChar char="•"/>
            </a:pPr>
            <a:r>
              <a:rPr lang="en-US" dirty="0">
                <a:solidFill>
                  <a:srgbClr val="1A1A1A"/>
                </a:solidFill>
                <a:latin typeface="Arial" panose="020B0604020202020204" pitchFamily="34" charset="0"/>
                <a:ea typeface="Arial" panose="020B0604020202020204" pitchFamily="34" charset="-122"/>
                <a:cs typeface="Arial" panose="020B0604020202020204" pitchFamily="34" charset="-120"/>
              </a:rPr>
              <a:t>Evidence review date: 19 September 2026.</a:t>
            </a:r>
            <a:endParaRPr lang="en-US" dirty="0"/>
          </a:p>
        </p:txBody>
      </p:sp>
      <p:sp>
        <p:nvSpPr>
          <p:cNvPr id="25" name="Slide Number Placeholder 0"/>
          <p:cNvSpPr>
            <a:spLocks noGrp="1"/>
          </p:cNvSpPr>
          <p:nvPr>
            <p:ph type="sldNum" sz="quarter" idx="4294967295"/>
          </p:nvPr>
        </p:nvSpPr>
        <p:spPr>
          <a:xfrm>
            <a:off x="11521440" y="6547104"/>
            <a:ext cx="800000" cy="300000"/>
          </a:xfrm>
          <a:prstGeom prst="rect">
            <a:avLst/>
          </a:prstGeom>
        </p:spPr>
        <p:txBody>
          <a:bodyPr/>
          <a:lstStyle>
            <a:lvl1pPr>
              <a:defRPr sz="1000">
                <a:solidFill>
                  <a:srgbClr val="5B6670"/>
                </a:solidFill>
                <a:latin typeface="Arial" panose="020B0604020202020204"/>
                <a:ea typeface="Arial" panose="020B0604020202020204"/>
                <a:cs typeface="Arial" panose="020B0604020202020204"/>
              </a:defRPr>
            </a:lvl1pPr>
          </a:lstStyle>
          <a:p>
            <a:pPr algn="l"/>
            <a:fld id="{F7021451-1387-4CA6-816F-3879F97B5CBC}" type="slidenum">
              <a:rPr lang="en-US" b="0"/>
            </a:fld>
            <a:endParaRPr lang="en-US"/>
          </a:p>
        </p:txBody>
      </p:sp>
    </p:spTree>
  </p:cSld>
  <p:clrMapOvr>
    <a:masterClrMapping/>
  </p:clrMapOvr>
</p:sld>
</file>

<file path=ppt/tags/tag1.xml><?xml version="1.0" encoding="utf-8"?>
<p:tagLst xmlns:p="http://schemas.openxmlformats.org/presentationml/2006/main">
  <p:tag name="TABLE_ENDDRAG_ORIGIN_RECT" val="859*411"/>
  <p:tag name="TABLE_ENDDRAG_RECT" val="47*80*859*41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9051</Words>
  <Application>WPS Presentation</Application>
  <PresentationFormat>On-screen Show (16:9)</PresentationFormat>
  <Paragraphs>197</Paragraphs>
  <Slides>11</Slides>
  <Notes>10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11</vt:i4>
      </vt:variant>
    </vt:vector>
  </HeadingPairs>
  <TitlesOfParts>
    <vt:vector size="24" baseType="lpstr">
      <vt:lpstr>Arial</vt:lpstr>
      <vt:lpstr>SimSun</vt:lpstr>
      <vt:lpstr>Wingdings</vt:lpstr>
      <vt:lpstr>Arial</vt:lpstr>
      <vt:lpstr>Arial</vt:lpstr>
      <vt:lpstr>Arial</vt:lpstr>
      <vt:lpstr>Bookman Old Style</vt:lpstr>
      <vt:lpstr>Liberation Mono</vt:lpstr>
      <vt:lpstr>Calibri</vt:lpstr>
      <vt:lpstr>Microsoft YaHei</vt:lpstr>
      <vt:lpstr>Arial Unicode MS</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Akash T Dani</cp:lastModifiedBy>
  <cp:revision>3</cp:revision>
  <dcterms:created xsi:type="dcterms:W3CDTF">2026-09-18T20:55:00Z</dcterms:created>
  <dcterms:modified xsi:type="dcterms:W3CDTF">2026-09-27T03:11:01Z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31A42E961B044842B9E9E01A567978EA_13</vt:lpwstr>
  </property>
  <property fmtid="{D5CDD505-2E9C-101B-9397-08002B2CF9AE}" pid="3" name="KSOProductBuildVer">
    <vt:lpwstr>2057-12.2.0.23206</vt:lpwstr>
  </property>
</Properties>
</file>